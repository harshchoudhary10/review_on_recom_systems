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75" r:id="rId7"/>
    <p:sldId id="276" r:id="rId8"/>
    <p:sldId id="277" r:id="rId9"/>
    <p:sldId id="261" r:id="rId10"/>
    <p:sldId id="278" r:id="rId11"/>
    <p:sldId id="279" r:id="rId12"/>
    <p:sldId id="280" r:id="rId13"/>
    <p:sldId id="281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64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090905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48bc827b0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48bc827b0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48bc827b0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48bc827b0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8bc827b0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8bc827b0c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8bc827b0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8bc827b0c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8bc827b0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8bc827b0c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ctr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ctr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ctr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ctr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ctr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ctr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ctr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ctr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body" idx="1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" name="Google Shape;24;p3"/>
          <p:cNvSpPr txBox="1"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wentieth Century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560"/>
              <a:buNone/>
              <a:defRPr sz="2600">
                <a:solidFill>
                  <a:srgbClr val="FFFFFF"/>
                </a:solidFill>
              </a:defRPr>
            </a:lvl1pPr>
            <a:lvl2pPr lvl="1" algn="ctr">
              <a:spcBef>
                <a:spcPts val="55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5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35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76200" y="6068699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8001000" y="228600"/>
            <a:ext cx="838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400" b="1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ctr">
              <a:spcBef>
                <a:spcPts val="0"/>
              </a:spcBef>
              <a:buNone/>
              <a:defRPr sz="1400" b="1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ctr">
              <a:spcBef>
                <a:spcPts val="0"/>
              </a:spcBef>
              <a:buNone/>
              <a:defRPr sz="1400" b="1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ctr">
              <a:spcBef>
                <a:spcPts val="0"/>
              </a:spcBef>
              <a:buNone/>
              <a:defRPr sz="1400" b="1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ctr">
              <a:spcBef>
                <a:spcPts val="0"/>
              </a:spcBef>
              <a:buNone/>
              <a:defRPr sz="1400" b="1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ctr">
              <a:spcBef>
                <a:spcPts val="0"/>
              </a:spcBef>
              <a:buNone/>
              <a:defRPr sz="1400" b="1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ctr">
              <a:spcBef>
                <a:spcPts val="0"/>
              </a:spcBef>
              <a:buNone/>
              <a:defRPr sz="1400" b="1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ctr">
              <a:spcBef>
                <a:spcPts val="0"/>
              </a:spcBef>
              <a:buNone/>
              <a:defRPr sz="1400" b="1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ctr">
              <a:spcBef>
                <a:spcPts val="0"/>
              </a:spcBef>
              <a:buNone/>
              <a:defRPr sz="1400" b="1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blipFill rotWithShape="1">
          <a:blip r:embed="rId2">
            <a:alphaModFix/>
          </a:blip>
          <a:tile tx="0" ty="0" sx="100000" sy="100000" flip="none" algn="tl"/>
        </a:blip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680"/>
              <a:buNone/>
              <a:defRPr sz="2800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550"/>
              </a:spcBef>
              <a:spcAft>
                <a:spcPts val="0"/>
              </a:spcAft>
              <a:buSzPts val="126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910"/>
              <a:buNone/>
              <a:defRPr sz="1400">
                <a:solidFill>
                  <a:srgbClr val="888888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wentieth Century"/>
              <a:buNone/>
              <a:defRPr sz="4400" b="0" cap="none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0" y="1752600"/>
            <a:ext cx="1295400" cy="701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ft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609600" y="1589567"/>
            <a:ext cx="3886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44901" y="1589567"/>
            <a:ext cx="3886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ft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609600" y="2438400"/>
            <a:ext cx="38862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2"/>
          </p:nvPr>
        </p:nvSpPr>
        <p:spPr>
          <a:xfrm>
            <a:off x="4800600" y="2438400"/>
            <a:ext cx="38862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ft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body" idx="3"/>
          </p:nvPr>
        </p:nvSpPr>
        <p:spPr>
          <a:xfrm>
            <a:off x="609600" y="1752600"/>
            <a:ext cx="3886200" cy="640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200"/>
              <a:buFont typeface="Twentieth Century"/>
              <a:buNone/>
              <a:defRPr sz="2000" b="1">
                <a:solidFill>
                  <a:srgbClr val="FFFFFF"/>
                </a:solidFill>
              </a:defRPr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body" idx="4"/>
          </p:nvPr>
        </p:nvSpPr>
        <p:spPr>
          <a:xfrm>
            <a:off x="4800600" y="1752600"/>
            <a:ext cx="3886200" cy="6400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200"/>
              <a:buFont typeface="Twentieth Century"/>
              <a:buNone/>
              <a:defRPr sz="2000" b="1">
                <a:solidFill>
                  <a:srgbClr val="FFFFFF"/>
                </a:solidFill>
              </a:defRPr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ft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0" y="62484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ctr">
              <a:spcBef>
                <a:spcPts val="0"/>
              </a:spcBef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ctr">
              <a:spcBef>
                <a:spcPts val="0"/>
              </a:spcBef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ctr">
              <a:spcBef>
                <a:spcPts val="0"/>
              </a:spcBef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ctr">
              <a:spcBef>
                <a:spcPts val="0"/>
              </a:spcBef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ctr">
              <a:spcBef>
                <a:spcPts val="0"/>
              </a:spcBef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ctr">
              <a:spcBef>
                <a:spcPts val="0"/>
              </a:spcBef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ctr">
              <a:spcBef>
                <a:spcPts val="0"/>
              </a:spcBef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ctr">
              <a:spcBef>
                <a:spcPts val="0"/>
              </a:spcBef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  <a:defRPr sz="44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1"/>
          </p:nvPr>
        </p:nvSpPr>
        <p:spPr>
          <a:xfrm>
            <a:off x="609600" y="1752600"/>
            <a:ext cx="1600200" cy="4343400"/>
          </a:xfrm>
          <a:prstGeom prst="rect">
            <a:avLst/>
          </a:prstGeom>
          <a:solidFill>
            <a:schemeClr val="accent2"/>
          </a:solidFill>
          <a:ln w="50800" cap="sq" cmpd="dbl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37150" tIns="182875" rIns="137150" bIns="91425" anchor="t" anchorCtr="0">
            <a:norm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080"/>
              <a:buNone/>
              <a:def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840"/>
              <a:buNone/>
              <a:defRPr sz="1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750"/>
              <a:buNone/>
              <a:defRPr sz="1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675"/>
              <a:buNone/>
              <a:defRPr sz="9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585"/>
              <a:buNone/>
              <a:defRPr sz="9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2"/>
          </p:nvPr>
        </p:nvSpPr>
        <p:spPr>
          <a:xfrm>
            <a:off x="2362200" y="1752600"/>
            <a:ext cx="64008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bg>
      <p:bgPr>
        <a:blipFill rotWithShape="1">
          <a:blip r:embed="rId2">
            <a:alphaModFix/>
          </a:blip>
          <a:tile tx="0" ty="0" sx="100000" sy="100000" flip="none" algn="tl"/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600200" y="54864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020"/>
              <a:buFont typeface="Twentieth Century"/>
              <a:buNone/>
              <a:defRPr sz="1700"/>
            </a:lvl1pPr>
            <a:lvl2pPr marL="914400" lvl="1" indent="-228600" algn="l">
              <a:spcBef>
                <a:spcPts val="550"/>
              </a:spcBef>
              <a:spcAft>
                <a:spcPts val="0"/>
              </a:spcAft>
              <a:buSzPts val="840"/>
              <a:buFont typeface="Twentieth Century"/>
              <a:buNone/>
              <a:defRPr sz="12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750"/>
              <a:buFont typeface="Twentieth Century"/>
              <a:buNone/>
              <a:defRPr sz="1000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675"/>
              <a:buFont typeface="Twentieth Century"/>
              <a:buNone/>
              <a:defRPr sz="900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585"/>
              <a:buFont typeface="Twentieth Century"/>
              <a:buNone/>
              <a:defRPr sz="9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/>
          <p:nvPr/>
        </p:nvSpPr>
        <p:spPr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5" name="Google Shape;75;p10"/>
          <p:cNvSpPr txBox="1"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wentieth Century"/>
              <a:buNone/>
              <a:defRPr sz="28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7" name="Google Shape;77;p10"/>
          <p:cNvSpPr txBox="1">
            <a:spLocks noGrp="1"/>
          </p:cNvSpPr>
          <p:nvPr>
            <p:ph type="dt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sldNum" idx="12"/>
          </p:nvPr>
        </p:nvSpPr>
        <p:spPr>
          <a:xfrm>
            <a:off x="0" y="4667249"/>
            <a:ext cx="1447800" cy="66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ftr" idx="11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>
            <a:spLocks noGrp="1"/>
          </p:cNvSpPr>
          <p:nvPr>
            <p:ph type="pic" idx="2"/>
          </p:nvPr>
        </p:nvSpPr>
        <p:spPr>
          <a:xfrm>
            <a:off x="1560576" y="0"/>
            <a:ext cx="7583424" cy="4568952"/>
          </a:xfrm>
          <a:prstGeom prst="rect">
            <a:avLst/>
          </a:prstGeom>
          <a:solidFill>
            <a:srgbClr val="DCE5EE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body" idx="1"/>
          </p:nvPr>
        </p:nvSpPr>
        <p:spPr>
          <a:xfrm rot="5400000">
            <a:off x="2426208" y="-213360"/>
            <a:ext cx="4526280" cy="81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ft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 txBox="1">
            <a:spLocks noGrp="1"/>
          </p:cNvSpPr>
          <p:nvPr>
            <p:ph type="title"/>
          </p:nvPr>
        </p:nvSpPr>
        <p:spPr>
          <a:xfrm rot="5400000">
            <a:off x="4823619" y="2339182"/>
            <a:ext cx="551656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body" idx="1"/>
          </p:nvPr>
        </p:nvSpPr>
        <p:spPr>
          <a:xfrm rot="5400000">
            <a:off x="480218" y="586582"/>
            <a:ext cx="5516564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dt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ft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/>
          <p:nvPr/>
        </p:nvSpPr>
        <p:spPr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3" name="Google Shape;93;p12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4" name="Google Shape;94;p12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5" name="Google Shape;95;p12"/>
          <p:cNvSpPr txBox="1">
            <a:spLocks noGrp="1"/>
          </p:cNvSpPr>
          <p:nvPr>
            <p:ph type="sldNum" idx="12"/>
          </p:nvPr>
        </p:nvSpPr>
        <p:spPr>
          <a:xfrm rot="5400000">
            <a:off x="5989638" y="14446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  <a:defRPr sz="4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9090" algn="l" rtl="0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740"/>
              <a:buFont typeface="Noto Sans Symbols"/>
              <a:buChar char="◻"/>
              <a:defRPr sz="29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44169" algn="l" rtl="0"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🞑"/>
              <a:defRPr sz="26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38137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25"/>
              <a:buFont typeface="Noto Sans Symbols"/>
              <a:buChar char="■"/>
              <a:defRPr sz="23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2385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11150" algn="l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1EC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/>
          <p:nvPr/>
        </p:nvSpPr>
        <p:spPr>
          <a:xfrm>
            <a:off x="549400" y="3861707"/>
            <a:ext cx="8039100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IN" sz="2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on “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Comprehensive Review of Recommendation Systems: Techniques, Challenges, and Future Directions.</a:t>
            </a:r>
            <a:r>
              <a:rPr lang="en-IN" sz="2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endParaRPr sz="28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“Technical Seminar-(7CS7-40)”</a:t>
            </a:r>
            <a:endParaRPr dirty="0"/>
          </a:p>
        </p:txBody>
      </p:sp>
      <p:sp>
        <p:nvSpPr>
          <p:cNvPr id="101" name="Google Shape;101;p13"/>
          <p:cNvSpPr txBox="1"/>
          <p:nvPr/>
        </p:nvSpPr>
        <p:spPr>
          <a:xfrm>
            <a:off x="0" y="5707559"/>
            <a:ext cx="42672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to:-</a:t>
            </a:r>
            <a:endParaRPr sz="2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Name: </a:t>
            </a:r>
            <a:r>
              <a:rPr lang="en-IN" sz="1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</a:t>
            </a:r>
            <a:r>
              <a:rPr lang="en-I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Anil Kumar </a:t>
            </a:r>
            <a:endParaRPr sz="1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Name : </a:t>
            </a:r>
            <a:r>
              <a:rPr lang="en-IN" sz="1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Ms.</a:t>
            </a:r>
            <a:r>
              <a:rPr lang="en-I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Poonam</a:t>
            </a:r>
            <a:r>
              <a:rPr lang="en-I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Tanwar</a:t>
            </a:r>
            <a:endParaRPr sz="1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 Name : Ms. Shivani Sharma</a:t>
            </a:r>
            <a:endParaRPr sz="1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0" y="2482294"/>
            <a:ext cx="90678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ACADEMIC SESSION 2025-2026 (ODD SEMESTER)</a:t>
            </a:r>
            <a:endParaRPr dirty="0"/>
          </a:p>
        </p:txBody>
      </p:sp>
      <p:pic>
        <p:nvPicPr>
          <p:cNvPr id="103" name="Google Shape;10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9137900" cy="19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3"/>
          <p:cNvSpPr txBox="1"/>
          <p:nvPr/>
        </p:nvSpPr>
        <p:spPr>
          <a:xfrm>
            <a:off x="609600" y="1959114"/>
            <a:ext cx="81534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>
                <a:solidFill>
                  <a:schemeClr val="dk1"/>
                </a:solidFill>
                <a:latin typeface="Times New Roman" pitchFamily="18" charset="0"/>
                <a:ea typeface="Twentieth Century"/>
                <a:cs typeface="Times New Roman" pitchFamily="18" charset="0"/>
                <a:sym typeface="Twentieth Century"/>
              </a:rPr>
              <a:t>Department of Computer Engineering</a:t>
            </a:r>
            <a:endParaRPr sz="2800" b="1" dirty="0">
              <a:solidFill>
                <a:schemeClr val="dk1"/>
              </a:solidFill>
              <a:latin typeface="Times New Roman" pitchFamily="18" charset="0"/>
              <a:ea typeface="Twentieth Century"/>
              <a:cs typeface="Times New Roman" pitchFamily="18" charset="0"/>
              <a:sym typeface="Twentieth Century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-19050" y="2977188"/>
            <a:ext cx="9105900" cy="816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06094" marR="27178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I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in partial fulfilment of the degree of Bachelor of Technology</a:t>
            </a:r>
            <a:endParaRPr dirty="0"/>
          </a:p>
          <a:p>
            <a:pPr marL="0" marR="0" lvl="0" indent="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I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Rajasthan Technical University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6666046" y="5692738"/>
            <a:ext cx="2477953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By:-</a:t>
            </a:r>
            <a:endParaRPr sz="2000" dirty="0"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: Harsh Choudhary</a:t>
            </a:r>
            <a:endParaRPr sz="1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PIET22CS061</a:t>
            </a:r>
            <a:endParaRPr sz="1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Section : A</a:t>
            </a:r>
            <a:endParaRPr sz="1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 txBox="1"/>
          <p:nvPr/>
        </p:nvSpPr>
        <p:spPr>
          <a:xfrm>
            <a:off x="381000" y="1524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66928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Char char="⮚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/>
          </a:p>
          <a:p>
            <a:pPr marL="566928" marR="0" lvl="0" indent="-4572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Char char="⮚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/>
          </a:p>
          <a:p>
            <a:pPr marL="566928" marR="0" lvl="0" indent="-4572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Char char="⮚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Identification &amp; Definition</a:t>
            </a:r>
            <a:endParaRPr/>
          </a:p>
          <a:p>
            <a:pPr marL="566928" marR="0" lvl="0" indent="-4572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Char char="⮚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Methodology</a:t>
            </a:r>
            <a:endParaRPr/>
          </a:p>
          <a:p>
            <a:pPr marL="566928" marR="0" lvl="0" indent="-4572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Char char="⮚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Tools/Simulator Used in Reviewed Paper</a:t>
            </a:r>
            <a:endParaRPr/>
          </a:p>
          <a:p>
            <a:pPr marL="566928" marR="0" lvl="0" indent="-4572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Char char="⮚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  <a:endParaRPr/>
          </a:p>
          <a:p>
            <a:pPr marL="566928" marR="0" lvl="0" indent="-4572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Char char="⮚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and future work</a:t>
            </a:r>
            <a:endParaRPr/>
          </a:p>
          <a:p>
            <a:pPr marL="566928" marR="0" lvl="0" indent="-4572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Char char="⮚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  <a:p>
            <a:pPr marL="365760" marR="0" lvl="0" indent="-25603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marR="0" lvl="0" indent="-25603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marR="0" lvl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lang="en-IN" sz="3200" b="1" i="0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Contents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body" idx="1"/>
          </p:nvPr>
        </p:nvSpPr>
        <p:spPr>
          <a:xfrm>
            <a:off x="612650" y="1600200"/>
            <a:ext cx="8153400" cy="5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US" sz="2000" dirty="0"/>
              <a:t>To analyze and compare various recommendation system methodologies including collaborative filtering, content-based filtering, and hybrid approaches.</a:t>
            </a:r>
            <a:endParaRPr lang="en-US" sz="800" dirty="0"/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To identify and discuss key challenges such as the cold start problem, data sparsity, and scalability issues that affect recommendation quality. 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To review common evaluation metrics and application domains where recommendation systems are widely used. 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To summarize recent advancements in deep learning-based recommenders and highlight promising future research directions.</a:t>
            </a:r>
          </a:p>
          <a:p>
            <a:pPr algn="just"/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Literature Review - Paper 1 </a:t>
            </a:r>
            <a:endParaRPr dirty="0"/>
          </a:p>
        </p:txBody>
      </p:sp>
      <p:sp>
        <p:nvSpPr>
          <p:cNvPr id="124" name="Google Shape;124;p16"/>
          <p:cNvSpPr txBox="1">
            <a:spLocks noGrp="1"/>
          </p:cNvSpPr>
          <p:nvPr>
            <p:ph type="body" idx="1"/>
          </p:nvPr>
        </p:nvSpPr>
        <p:spPr>
          <a:xfrm>
            <a:off x="612648" y="160718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160020" indent="0">
              <a:lnSpc>
                <a:spcPct val="120000"/>
              </a:lnSpc>
              <a:buNone/>
            </a:pPr>
            <a:r>
              <a:rPr lang="en-US" b="1" dirty="0"/>
              <a:t>Title:</a:t>
            </a:r>
            <a:r>
              <a:rPr lang="en-US" dirty="0"/>
              <a:t> A Comprehensive Review of Recommender Systems: Transitioning from Theory to Practice</a:t>
            </a:r>
            <a:br>
              <a:rPr lang="en-US" dirty="0"/>
            </a:br>
            <a:endParaRPr lang="en-US" sz="1100" dirty="0"/>
          </a:p>
          <a:p>
            <a:pPr marL="160020" indent="0">
              <a:lnSpc>
                <a:spcPct val="120000"/>
              </a:lnSpc>
              <a:buNone/>
            </a:pPr>
            <a:r>
              <a:rPr lang="en-US" b="1" dirty="0"/>
              <a:t>Year of Publication:</a:t>
            </a:r>
            <a:r>
              <a:rPr lang="en-US" dirty="0"/>
              <a:t> 2024</a:t>
            </a:r>
          </a:p>
          <a:p>
            <a:pPr marL="160020" indent="0">
              <a:lnSpc>
                <a:spcPct val="120000"/>
              </a:lnSpc>
              <a:buNone/>
            </a:pPr>
            <a:br>
              <a:rPr lang="en-US" sz="1100" dirty="0"/>
            </a:br>
            <a:r>
              <a:rPr lang="en-US" b="1" dirty="0"/>
              <a:t>Objective:</a:t>
            </a:r>
            <a:r>
              <a:rPr lang="en-US" dirty="0"/>
              <a:t> Provide a comprehensive overview of recommender systems, including fundamental techniques, recent trends, and practical applications, with a focus on bridging theory and real-world use.</a:t>
            </a:r>
          </a:p>
          <a:p>
            <a:pPr marL="160020" indent="0">
              <a:lnSpc>
                <a:spcPct val="120000"/>
              </a:lnSpc>
              <a:buNone/>
            </a:pPr>
            <a:br>
              <a:rPr lang="en-US" sz="1100" dirty="0"/>
            </a:br>
            <a:r>
              <a:rPr lang="en-US" b="1" dirty="0"/>
              <a:t>Methodology:</a:t>
            </a:r>
            <a:endParaRPr lang="en-US" dirty="0"/>
          </a:p>
          <a:p>
            <a:r>
              <a:rPr lang="en-US" dirty="0"/>
              <a:t>Analyzed a broad range of research from foundational algorithms to modern deep learning-based approaches.</a:t>
            </a:r>
          </a:p>
          <a:p>
            <a:r>
              <a:rPr lang="en-US" dirty="0"/>
              <a:t>Classified approaches into collaborative filtering, content-based, hybrid, and context-aware systems.</a:t>
            </a:r>
          </a:p>
          <a:p>
            <a:r>
              <a:rPr lang="en-US" dirty="0"/>
              <a:t>Compared findings across domains such as e-commerce, media streaming, and social networks.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>
            <a:spLocks noGrp="1"/>
          </p:cNvSpPr>
          <p:nvPr>
            <p:ph type="body" idx="1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60020" indent="0">
              <a:buNone/>
            </a:pPr>
            <a:r>
              <a:rPr lang="en-US" sz="2000" b="1" dirty="0"/>
              <a:t>Result:</a:t>
            </a:r>
            <a:r>
              <a:rPr lang="en-US" sz="2000" dirty="0"/>
              <a:t> Delivered a taxonomy of recommender system architectures and their evolution, highlighting their adoption in multiple industries and performance on benchmark datasets.</a:t>
            </a:r>
          </a:p>
          <a:p>
            <a:pPr marL="160020" indent="0">
              <a:buNone/>
            </a:pPr>
            <a:br>
              <a:rPr lang="en-US" sz="800" dirty="0"/>
            </a:br>
            <a:r>
              <a:rPr lang="en-US" sz="2000" b="1" dirty="0"/>
              <a:t>Contribution:</a:t>
            </a:r>
            <a:r>
              <a:rPr lang="en-US" sz="2000" dirty="0"/>
              <a:t> Offered unified perspective for researchers and practitioners, making it easier to select, implement, and further develop recommender system solutions for different domains.</a:t>
            </a:r>
            <a:br>
              <a:rPr lang="en-US" sz="2000" dirty="0"/>
            </a:br>
            <a:endParaRPr lang="en-US" sz="800" dirty="0"/>
          </a:p>
          <a:p>
            <a:pPr marL="160020" indent="0">
              <a:buNone/>
            </a:pPr>
            <a:r>
              <a:rPr lang="en-US" sz="2000" b="1" dirty="0"/>
              <a:t>Limitations:</a:t>
            </a:r>
            <a:endParaRPr lang="en-US" sz="2000" dirty="0"/>
          </a:p>
          <a:p>
            <a:r>
              <a:rPr lang="en-US" sz="2000" dirty="0"/>
              <a:t>Primarily literature-focused; includes no empirical validation or deployment studies.</a:t>
            </a:r>
          </a:p>
          <a:p>
            <a:r>
              <a:rPr lang="en-US" sz="2000" dirty="0"/>
              <a:t>Limited coverage of privacy and ethical concerns.</a:t>
            </a:r>
          </a:p>
          <a:p>
            <a:r>
              <a:rPr lang="en-US" sz="2000" dirty="0"/>
              <a:t>Did not address scalability challenges in highly dynamic environments in depth.</a:t>
            </a:r>
          </a:p>
        </p:txBody>
      </p:sp>
      <p:sp>
        <p:nvSpPr>
          <p:cNvPr id="3" name="Google Shape;123;p16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Literature Review - Paper 1 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Literature Review - Paper 2 </a:t>
            </a:r>
            <a:endParaRPr dirty="0"/>
          </a:p>
        </p:txBody>
      </p:sp>
      <p:sp>
        <p:nvSpPr>
          <p:cNvPr id="124" name="Google Shape;124;p16"/>
          <p:cNvSpPr txBox="1">
            <a:spLocks noGrp="1"/>
          </p:cNvSpPr>
          <p:nvPr>
            <p:ph type="body" idx="1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160020" indent="0">
              <a:buNone/>
            </a:pPr>
            <a:r>
              <a:rPr lang="en-US" sz="2000" b="1" dirty="0"/>
              <a:t>Title:</a:t>
            </a:r>
            <a:r>
              <a:rPr lang="en-US" sz="2000" dirty="0"/>
              <a:t> Deep Learning based Recommender System: A Survey and New Perspectives</a:t>
            </a:r>
          </a:p>
          <a:p>
            <a:pPr marL="160020" indent="0">
              <a:buNone/>
            </a:pPr>
            <a:br>
              <a:rPr lang="en-US" sz="800" dirty="0"/>
            </a:br>
            <a:r>
              <a:rPr lang="en-US" sz="2000" b="1" dirty="0"/>
              <a:t>Year of Publication:</a:t>
            </a:r>
            <a:r>
              <a:rPr lang="en-US" sz="2000" dirty="0"/>
              <a:t> 2017</a:t>
            </a:r>
          </a:p>
          <a:p>
            <a:pPr marL="160020" indent="0">
              <a:buNone/>
            </a:pPr>
            <a:br>
              <a:rPr lang="en-US" sz="800" dirty="0"/>
            </a:br>
            <a:r>
              <a:rPr lang="en-US" sz="2000" b="1" dirty="0"/>
              <a:t>Objective:</a:t>
            </a:r>
            <a:r>
              <a:rPr lang="en-US" sz="2000" dirty="0"/>
              <a:t> Survey deep learning techniques used in recommender systems, detailing architectures, advancements, and their impact on recommendation accuracy.</a:t>
            </a:r>
          </a:p>
          <a:p>
            <a:pPr marL="160020" indent="0">
              <a:buNone/>
            </a:pPr>
            <a:br>
              <a:rPr lang="en-US" sz="900" dirty="0"/>
            </a:br>
            <a:r>
              <a:rPr lang="en-US" sz="2000" b="1" dirty="0"/>
              <a:t>Methodology:</a:t>
            </a:r>
            <a:endParaRPr lang="en-US" sz="2000" dirty="0"/>
          </a:p>
          <a:p>
            <a:r>
              <a:rPr lang="en-US" sz="2000" dirty="0"/>
              <a:t>Collected and synthesized research using CNN, RNN, Autoencoders, and hybrid neural architecture in recommendation tasks.</a:t>
            </a:r>
          </a:p>
          <a:p>
            <a:r>
              <a:rPr lang="en-US" sz="2000" dirty="0"/>
              <a:t>Grouped works based on neural network type and target data: explicit feedback, implicit feedback, content features.</a:t>
            </a:r>
          </a:p>
          <a:p>
            <a:r>
              <a:rPr lang="en-US" sz="2000" dirty="0"/>
              <a:t>Compared deep models with classical baselines across diverse datasets.</a:t>
            </a:r>
          </a:p>
        </p:txBody>
      </p:sp>
    </p:spTree>
    <p:extLst>
      <p:ext uri="{BB962C8B-B14F-4D97-AF65-F5344CB8AC3E}">
        <p14:creationId xmlns:p14="http://schemas.microsoft.com/office/powerpoint/2010/main" val="1399246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>
            <a:spLocks noGrp="1"/>
          </p:cNvSpPr>
          <p:nvPr>
            <p:ph type="body" idx="1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60020" indent="0">
              <a:buNone/>
            </a:pPr>
            <a:r>
              <a:rPr lang="en-US" sz="2000" b="1" dirty="0"/>
              <a:t>Result:</a:t>
            </a:r>
            <a:r>
              <a:rPr lang="en-US" sz="2000" dirty="0"/>
              <a:t> Highlighted significant improvements achieved by deep neural networks over traditional techniques, especially in modeling non-linear relationships and contextual user-item interactions.</a:t>
            </a:r>
          </a:p>
          <a:p>
            <a:pPr marL="160020" indent="0">
              <a:buNone/>
            </a:pPr>
            <a:br>
              <a:rPr lang="en-US" sz="800" dirty="0"/>
            </a:br>
            <a:r>
              <a:rPr lang="en-US" sz="2000" b="1" dirty="0"/>
              <a:t>Contribution:</a:t>
            </a:r>
            <a:r>
              <a:rPr lang="en-US" sz="2000" dirty="0"/>
              <a:t> : Mapped the landscape of deep learning for recommendations, identifying key breakthroughs and influential architectures for academic and industrial audiences.</a:t>
            </a:r>
          </a:p>
          <a:p>
            <a:pPr marL="160020" indent="0">
              <a:buNone/>
            </a:pPr>
            <a:br>
              <a:rPr lang="en-US" sz="800" dirty="0"/>
            </a:br>
            <a:r>
              <a:rPr lang="en-US" sz="2000" b="1" dirty="0"/>
              <a:t>Limitations:</a:t>
            </a:r>
            <a:endParaRPr lang="en-US" sz="2000" dirty="0"/>
          </a:p>
          <a:p>
            <a:r>
              <a:rPr lang="en-US" sz="2000" dirty="0"/>
              <a:t>Lacks hands-on application or experimental benchmarks on new datasets.</a:t>
            </a:r>
          </a:p>
          <a:p>
            <a:r>
              <a:rPr lang="en-US" sz="2000" dirty="0"/>
              <a:t>Did not cover interpretability and transparency challenges in deep models.</a:t>
            </a:r>
          </a:p>
          <a:p>
            <a:r>
              <a:rPr lang="en-US" sz="2000" dirty="0"/>
              <a:t>Rapid pace of deep learning made some sections quickly outdated.</a:t>
            </a:r>
          </a:p>
        </p:txBody>
      </p:sp>
      <p:sp>
        <p:nvSpPr>
          <p:cNvPr id="3" name="Google Shape;123;p16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Literature Review - Paper 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70974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Literature Review - Paper 3 </a:t>
            </a:r>
            <a:endParaRPr dirty="0"/>
          </a:p>
        </p:txBody>
      </p:sp>
      <p:sp>
        <p:nvSpPr>
          <p:cNvPr id="124" name="Google Shape;124;p16"/>
          <p:cNvSpPr txBox="1">
            <a:spLocks noGrp="1"/>
          </p:cNvSpPr>
          <p:nvPr>
            <p:ph type="body" idx="1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60020" indent="0">
              <a:buNone/>
            </a:pPr>
            <a:r>
              <a:rPr lang="en-US" sz="2000" b="1" dirty="0"/>
              <a:t>Title:</a:t>
            </a:r>
            <a:r>
              <a:rPr lang="en-US" sz="2000" dirty="0"/>
              <a:t> Collaborative Filtering Recommender Systems: Survey</a:t>
            </a:r>
          </a:p>
          <a:p>
            <a:pPr marL="160020" indent="0">
              <a:buNone/>
            </a:pPr>
            <a:br>
              <a:rPr lang="en-US" sz="800" dirty="0"/>
            </a:br>
            <a:r>
              <a:rPr lang="en-US" sz="2000" b="1" dirty="0"/>
              <a:t>Year of Publication:</a:t>
            </a:r>
            <a:r>
              <a:rPr lang="en-US" sz="2000" dirty="0"/>
              <a:t> 2024</a:t>
            </a:r>
            <a:br>
              <a:rPr lang="en-US" sz="2000" dirty="0"/>
            </a:br>
            <a:endParaRPr lang="en-US" sz="800" dirty="0"/>
          </a:p>
          <a:p>
            <a:pPr marL="160020" indent="0">
              <a:buNone/>
            </a:pPr>
            <a:r>
              <a:rPr lang="en-US" sz="2000" b="1" dirty="0"/>
              <a:t>Objective:</a:t>
            </a:r>
            <a:r>
              <a:rPr lang="en-US" sz="2000" dirty="0"/>
              <a:t> Provide an in-depth review of collaborative filtering (CF) methods, from memory-based to advanced model-based strategies, and their evolution over time.</a:t>
            </a:r>
            <a:br>
              <a:rPr lang="en-US" sz="2000" dirty="0"/>
            </a:br>
            <a:endParaRPr lang="en-US" sz="800" dirty="0"/>
          </a:p>
          <a:p>
            <a:pPr marL="160020" indent="0">
              <a:buNone/>
            </a:pPr>
            <a:r>
              <a:rPr lang="en-US" sz="2000" b="1" dirty="0"/>
              <a:t>Methodology:</a:t>
            </a:r>
          </a:p>
          <a:p>
            <a:r>
              <a:rPr lang="en-US" sz="2000" dirty="0"/>
              <a:t>Reviewed CF approaches including User-based, Item-based, Matrix Factorization, and hybrid methods.</a:t>
            </a:r>
          </a:p>
          <a:p>
            <a:r>
              <a:rPr lang="en-US" sz="2000" dirty="0"/>
              <a:t>Classified papers according to technique, data sparsity handling, and scalability.</a:t>
            </a:r>
          </a:p>
          <a:p>
            <a:r>
              <a:rPr lang="en-US" sz="2000" dirty="0"/>
              <a:t>Compared evaluation metrics and practical deployment case studies.</a:t>
            </a:r>
          </a:p>
        </p:txBody>
      </p:sp>
    </p:spTree>
    <p:extLst>
      <p:ext uri="{BB962C8B-B14F-4D97-AF65-F5344CB8AC3E}">
        <p14:creationId xmlns:p14="http://schemas.microsoft.com/office/powerpoint/2010/main" val="1445176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Literature Review - Paper 3</a:t>
            </a:r>
            <a:endParaRPr dirty="0"/>
          </a:p>
        </p:txBody>
      </p:sp>
      <p:sp>
        <p:nvSpPr>
          <p:cNvPr id="135" name="Google Shape;135;p18"/>
          <p:cNvSpPr txBox="1">
            <a:spLocks noGrp="1"/>
          </p:cNvSpPr>
          <p:nvPr>
            <p:ph type="body" idx="1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60020" indent="0">
              <a:buNone/>
            </a:pPr>
            <a:r>
              <a:rPr lang="en-US" sz="2000" b="1" dirty="0"/>
              <a:t>Result:</a:t>
            </a:r>
            <a:r>
              <a:rPr lang="en-US" sz="2000" dirty="0"/>
              <a:t> Detailed strengths and weaknesses of each CF variant, highlighting the progress made in accuracy and efficiency. Mapped solutions to common CF challenges like cold start and scalability.</a:t>
            </a:r>
          </a:p>
          <a:p>
            <a:pPr marL="160020" indent="0">
              <a:buNone/>
            </a:pPr>
            <a:r>
              <a:rPr lang="en-US" sz="2000" b="1" dirty="0"/>
              <a:t>Contribution:</a:t>
            </a:r>
            <a:r>
              <a:rPr lang="en-US" sz="2000" dirty="0"/>
              <a:t> Served as a comprehensive reference for both new researchers and practitioners to understand and choose CF techniques for various scenarios.</a:t>
            </a:r>
          </a:p>
          <a:p>
            <a:pPr marL="160020" indent="0">
              <a:buNone/>
            </a:pPr>
            <a:r>
              <a:rPr lang="en-US" sz="2000" b="1" dirty="0"/>
              <a:t>Limitations:</a:t>
            </a:r>
            <a:endParaRPr lang="en-US" sz="2000" dirty="0"/>
          </a:p>
          <a:p>
            <a:r>
              <a:rPr lang="en-US" sz="2000" dirty="0"/>
              <a:t>Did not address privacy-preserving collaborative filtering approaches.</a:t>
            </a:r>
          </a:p>
          <a:p>
            <a:r>
              <a:rPr lang="en-US" sz="2000" dirty="0"/>
              <a:t>Limited focus on multi-modal data integration.</a:t>
            </a:r>
          </a:p>
          <a:p>
            <a:r>
              <a:rPr lang="en-US" sz="2000" dirty="0"/>
              <a:t>Few insights provided on combining CF with reinforcement learning.</a:t>
            </a:r>
          </a:p>
          <a:p>
            <a:pPr marL="160020" indent="0"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Literature Review - Paper 4 </a:t>
            </a:r>
            <a:endParaRPr dirty="0"/>
          </a:p>
        </p:txBody>
      </p:sp>
      <p:sp>
        <p:nvSpPr>
          <p:cNvPr id="124" name="Google Shape;124;p16"/>
          <p:cNvSpPr txBox="1">
            <a:spLocks noGrp="1"/>
          </p:cNvSpPr>
          <p:nvPr>
            <p:ph type="body" idx="1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60020" indent="0">
              <a:buNone/>
            </a:pPr>
            <a:r>
              <a:rPr lang="en-US" sz="2000" b="1" dirty="0"/>
              <a:t>Title:</a:t>
            </a:r>
            <a:r>
              <a:rPr lang="en-US" sz="2000" dirty="0"/>
              <a:t> A Review of Hybrid Recommender Systems</a:t>
            </a:r>
          </a:p>
          <a:p>
            <a:pPr marL="160020" indent="0">
              <a:buNone/>
            </a:pPr>
            <a:br>
              <a:rPr lang="en-US" sz="800" dirty="0"/>
            </a:br>
            <a:r>
              <a:rPr lang="en-US" sz="2000" b="1" dirty="0"/>
              <a:t>Year of Publication:</a:t>
            </a:r>
            <a:r>
              <a:rPr lang="en-US" sz="2000" dirty="0"/>
              <a:t> 2017</a:t>
            </a:r>
            <a:br>
              <a:rPr lang="en-US" sz="2000" dirty="0"/>
            </a:br>
            <a:endParaRPr lang="en-US" sz="800" dirty="0"/>
          </a:p>
          <a:p>
            <a:pPr marL="160020" indent="0">
              <a:buNone/>
            </a:pPr>
            <a:r>
              <a:rPr lang="en-US" sz="2000" b="1" dirty="0"/>
              <a:t>Objective:</a:t>
            </a:r>
            <a:r>
              <a:rPr lang="en-US" sz="2000" dirty="0"/>
              <a:t> Explore hybrid recommender approaches that integrate collaborative, content-based, knowledge-based, and other filtering techniques for improved recommendations.</a:t>
            </a:r>
            <a:br>
              <a:rPr lang="en-US" sz="2000" dirty="0"/>
            </a:br>
            <a:endParaRPr lang="en-US" sz="900" dirty="0"/>
          </a:p>
          <a:p>
            <a:pPr marL="160020" indent="0">
              <a:buNone/>
            </a:pPr>
            <a:r>
              <a:rPr lang="en-US" sz="2000" b="1" dirty="0"/>
              <a:t>Methodology:</a:t>
            </a:r>
            <a:endParaRPr lang="en-US" sz="2000" dirty="0"/>
          </a:p>
          <a:p>
            <a:r>
              <a:rPr lang="en-US" sz="2000" dirty="0"/>
              <a:t>Gathered and compared research on hybridization strategies: weighted, switching, mixing, and meta-level.</a:t>
            </a:r>
          </a:p>
          <a:p>
            <a:r>
              <a:rPr lang="en-US" sz="2000" dirty="0"/>
              <a:t>Categorized applications in e-commerce, streaming, and news domains.</a:t>
            </a:r>
          </a:p>
          <a:p>
            <a:r>
              <a:rPr lang="en-US" sz="2000" dirty="0"/>
              <a:t>Evaluated empirical performance on benchmark datasets (</a:t>
            </a:r>
            <a:r>
              <a:rPr lang="en-US" sz="2000" dirty="0" err="1"/>
              <a:t>MovieLens</a:t>
            </a:r>
            <a:r>
              <a:rPr lang="en-US" sz="2000" dirty="0"/>
              <a:t>, etc.).</a:t>
            </a: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05957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Literature Review - Paper 4</a:t>
            </a:r>
            <a:endParaRPr dirty="0"/>
          </a:p>
        </p:txBody>
      </p:sp>
      <p:sp>
        <p:nvSpPr>
          <p:cNvPr id="135" name="Google Shape;135;p18"/>
          <p:cNvSpPr txBox="1">
            <a:spLocks noGrp="1"/>
          </p:cNvSpPr>
          <p:nvPr>
            <p:ph type="body" idx="1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60020" indent="0">
              <a:buNone/>
            </a:pPr>
            <a:r>
              <a:rPr lang="en-US" sz="2000" b="1" dirty="0"/>
              <a:t>Result:</a:t>
            </a:r>
            <a:r>
              <a:rPr lang="en-US" sz="2000" dirty="0"/>
              <a:t> Showed hybrid systems' effectiveness in overcoming limitations of single approach systems (e.g., cold start, accuracy)</a:t>
            </a:r>
            <a:endParaRPr lang="en-US" sz="800" dirty="0"/>
          </a:p>
          <a:p>
            <a:pPr marL="160020" indent="0">
              <a:buNone/>
            </a:pPr>
            <a:r>
              <a:rPr lang="en-US" sz="2000" b="1" dirty="0"/>
              <a:t>Contribution:</a:t>
            </a:r>
            <a:r>
              <a:rPr lang="en-US" sz="2000" dirty="0"/>
              <a:t> Provided practitioners with insights on building robust recommenders by combining methods to tailor for diverse data and domain needs.</a:t>
            </a:r>
            <a:br>
              <a:rPr lang="en-US" sz="2000" dirty="0"/>
            </a:br>
            <a:endParaRPr lang="en-US" sz="800" dirty="0"/>
          </a:p>
          <a:p>
            <a:pPr marL="160020" indent="0">
              <a:buNone/>
            </a:pPr>
            <a:r>
              <a:rPr lang="en-US" sz="2000" b="1" dirty="0"/>
              <a:t>Limitations:</a:t>
            </a:r>
            <a:endParaRPr lang="en-US" sz="2000" dirty="0"/>
          </a:p>
          <a:p>
            <a:r>
              <a:rPr lang="en-US" sz="2000" dirty="0"/>
              <a:t>Mostly survey and qualitative; few quantitative meta-analyses.</a:t>
            </a:r>
          </a:p>
          <a:p>
            <a:r>
              <a:rPr lang="en-US" sz="2000" dirty="0"/>
              <a:t>Did not consider fairness or bias mitigation in hybrids.</a:t>
            </a:r>
          </a:p>
          <a:p>
            <a:r>
              <a:rPr lang="en-US" sz="2000" dirty="0"/>
              <a:t>Limited coverage of real-time large-scale deployment challenges.</a:t>
            </a:r>
          </a:p>
        </p:txBody>
      </p:sp>
    </p:spTree>
    <p:extLst>
      <p:ext uri="{BB962C8B-B14F-4D97-AF65-F5344CB8AC3E}">
        <p14:creationId xmlns:p14="http://schemas.microsoft.com/office/powerpoint/2010/main" val="3945339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Literature Review - Paper 5 </a:t>
            </a:r>
            <a:endParaRPr dirty="0"/>
          </a:p>
        </p:txBody>
      </p:sp>
      <p:sp>
        <p:nvSpPr>
          <p:cNvPr id="124" name="Google Shape;124;p16"/>
          <p:cNvSpPr txBox="1">
            <a:spLocks noGrp="1"/>
          </p:cNvSpPr>
          <p:nvPr>
            <p:ph type="body" idx="1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60020" indent="0">
              <a:buNone/>
            </a:pPr>
            <a:r>
              <a:rPr lang="en-US" sz="2000" b="1" dirty="0"/>
              <a:t>Title:</a:t>
            </a:r>
            <a:r>
              <a:rPr lang="en-US" sz="2000" dirty="0"/>
              <a:t> Cold Start Problem in Collaborative Filtering Systems: State of the Art</a:t>
            </a:r>
          </a:p>
          <a:p>
            <a:pPr marL="160020" indent="0">
              <a:buNone/>
            </a:pPr>
            <a:br>
              <a:rPr lang="en-US" sz="800" dirty="0"/>
            </a:br>
            <a:r>
              <a:rPr lang="en-US" sz="2000" b="1" dirty="0"/>
              <a:t>Year of Publication:</a:t>
            </a:r>
            <a:r>
              <a:rPr lang="en-US" sz="2000" dirty="0"/>
              <a:t> 2020</a:t>
            </a:r>
          </a:p>
          <a:p>
            <a:pPr marL="160020" indent="0">
              <a:buNone/>
            </a:pPr>
            <a:br>
              <a:rPr lang="en-US" sz="800" dirty="0"/>
            </a:br>
            <a:r>
              <a:rPr lang="en-US" sz="2000" b="1" dirty="0"/>
              <a:t>Objective:</a:t>
            </a:r>
            <a:r>
              <a:rPr lang="en-US" sz="2000" dirty="0"/>
              <a:t> Systematically review the cold start problem in collaborative filtering systems and survey latest solutions.</a:t>
            </a:r>
          </a:p>
          <a:p>
            <a:pPr marL="160020" indent="0">
              <a:buNone/>
            </a:pPr>
            <a:br>
              <a:rPr lang="en-US" sz="800" dirty="0"/>
            </a:br>
            <a:r>
              <a:rPr lang="en-US" sz="2000" b="1" dirty="0"/>
              <a:t>Methodology:</a:t>
            </a:r>
            <a:endParaRPr lang="en-US" sz="2000" dirty="0"/>
          </a:p>
          <a:p>
            <a:r>
              <a:rPr lang="en-US" sz="2000" dirty="0"/>
              <a:t>Collected research addressing user cold start, item cold start, and system initialization.</a:t>
            </a:r>
          </a:p>
          <a:p>
            <a:r>
              <a:rPr lang="en-US" sz="2000" dirty="0"/>
              <a:t>Classified methods into content-boosted, hybrid, active learning, and transfer learning strategies.</a:t>
            </a:r>
          </a:p>
          <a:p>
            <a:r>
              <a:rPr lang="en-US" sz="2000" dirty="0"/>
              <a:t>Compared effectiveness of approaches on public datasets and in simulation studies.</a:t>
            </a:r>
          </a:p>
        </p:txBody>
      </p:sp>
    </p:spTree>
    <p:extLst>
      <p:ext uri="{BB962C8B-B14F-4D97-AF65-F5344CB8AC3E}">
        <p14:creationId xmlns:p14="http://schemas.microsoft.com/office/powerpoint/2010/main" val="3173659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Literature Review - Paper 5</a:t>
            </a:r>
            <a:endParaRPr dirty="0"/>
          </a:p>
        </p:txBody>
      </p:sp>
      <p:sp>
        <p:nvSpPr>
          <p:cNvPr id="135" name="Google Shape;135;p18"/>
          <p:cNvSpPr txBox="1">
            <a:spLocks noGrp="1"/>
          </p:cNvSpPr>
          <p:nvPr>
            <p:ph type="body" idx="1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60020" indent="0">
              <a:buNone/>
            </a:pPr>
            <a:r>
              <a:rPr lang="en-US" sz="2000" b="1" dirty="0"/>
              <a:t>Result:</a:t>
            </a:r>
            <a:r>
              <a:rPr lang="en-US" sz="2000" dirty="0"/>
              <a:t> Highlighted content-based and hybrid methods as leading solutions for mitigating cold start, with growing interest in transfer learning and meta-learning.</a:t>
            </a:r>
            <a:endParaRPr lang="en-US" sz="800" dirty="0"/>
          </a:p>
          <a:p>
            <a:pPr marL="160020" indent="0">
              <a:buNone/>
            </a:pPr>
            <a:r>
              <a:rPr lang="en-US" sz="2000" b="1" dirty="0"/>
              <a:t>Contribution:</a:t>
            </a:r>
            <a:r>
              <a:rPr lang="en-US" sz="2000" dirty="0"/>
              <a:t> Helped researchers quickly understand progress in the field and select appropriate strategies to address the cold start problem in real-world systems.</a:t>
            </a:r>
            <a:endParaRPr lang="en-US" sz="800" dirty="0"/>
          </a:p>
          <a:p>
            <a:pPr marL="160020" indent="0">
              <a:buNone/>
            </a:pPr>
            <a:r>
              <a:rPr lang="en-US" sz="2000" b="1" dirty="0"/>
              <a:t>Limitations:</a:t>
            </a:r>
            <a:endParaRPr lang="en-US" sz="2000" dirty="0"/>
          </a:p>
          <a:p>
            <a:r>
              <a:rPr lang="en-US" sz="2000" dirty="0"/>
              <a:t>Mostly theoretical analysis; limited real-world production system evaluation.</a:t>
            </a:r>
          </a:p>
          <a:p>
            <a:r>
              <a:rPr lang="en-US" sz="2000" dirty="0"/>
              <a:t>Did not cover privacy, interpretability, or fairness aspects of cold start solutions.</a:t>
            </a:r>
          </a:p>
          <a:p>
            <a:r>
              <a:rPr lang="en-US" sz="2000" dirty="0"/>
              <a:t>Rapid advancements may make some reviewed solutions soon outdated.</a:t>
            </a:r>
          </a:p>
        </p:txBody>
      </p:sp>
    </p:spTree>
    <p:extLst>
      <p:ext uri="{BB962C8B-B14F-4D97-AF65-F5344CB8AC3E}">
        <p14:creationId xmlns:p14="http://schemas.microsoft.com/office/powerpoint/2010/main" val="2673020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Problem Identification &amp; Definition</a:t>
            </a:r>
            <a:endParaRPr dirty="0"/>
          </a:p>
        </p:txBody>
      </p:sp>
      <p:sp>
        <p:nvSpPr>
          <p:cNvPr id="179" name="Google Shape;179;p26"/>
          <p:cNvSpPr txBox="1">
            <a:spLocks noGrp="1"/>
          </p:cNvSpPr>
          <p:nvPr>
            <p:ph type="body" idx="1"/>
          </p:nvPr>
        </p:nvSpPr>
        <p:spPr>
          <a:xfrm>
            <a:off x="424542" y="1455700"/>
            <a:ext cx="8335737" cy="511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60020" indent="0">
              <a:buNone/>
            </a:pPr>
            <a:r>
              <a:rPr lang="en-US" sz="2000" b="1" dirty="0"/>
              <a:t>Problems Identified:</a:t>
            </a:r>
            <a:endParaRPr lang="en-US" sz="2000" dirty="0"/>
          </a:p>
          <a:p>
            <a:r>
              <a:rPr lang="en-US" sz="2000" dirty="0"/>
              <a:t>Large data requirements for training recommendation models challenging to gather and maintain high-quality user-item interaction data in practice.</a:t>
            </a:r>
          </a:p>
          <a:p>
            <a:r>
              <a:rPr lang="en-US" sz="2000" dirty="0"/>
              <a:t>Cold start problem difficulty recommending for new users or new items due to lack of historical data.</a:t>
            </a:r>
          </a:p>
          <a:p>
            <a:r>
              <a:rPr lang="en-US" sz="2000" dirty="0"/>
              <a:t>Data sparsity user-item rating matrices are mostly sparse, limiting prediction accuracy.</a:t>
            </a:r>
          </a:p>
          <a:p>
            <a:r>
              <a:rPr lang="en-US" sz="2000" dirty="0"/>
              <a:t>Limited cross-domain generalizability models trained on one domain often fail to perform well on another.</a:t>
            </a:r>
            <a:endParaRPr lang="en-US" sz="500" dirty="0"/>
          </a:p>
          <a:p>
            <a:pPr marL="160020" indent="0" algn="just">
              <a:buNone/>
            </a:pPr>
            <a:r>
              <a:rPr lang="en-US" sz="2000" b="1" dirty="0"/>
              <a:t>Problem Statement :</a:t>
            </a:r>
          </a:p>
          <a:p>
            <a:pPr marL="160020" indent="0" algn="just">
              <a:buNone/>
            </a:pPr>
            <a:r>
              <a:rPr lang="en-US" sz="2000" i="1" dirty="0"/>
              <a:t>How can we develop a behavioral biometric authentication system that is scalable, cross-device, privacy-preserving, and resistant to spoofing — while providing accurate, continuous, and user-friendly verification in real-world environments?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09728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92"/>
              <a:buFont typeface="Times New Roman"/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Review Methodology</a:t>
            </a:r>
            <a:endParaRPr dirty="0"/>
          </a:p>
        </p:txBody>
      </p:sp>
      <p:sp>
        <p:nvSpPr>
          <p:cNvPr id="185" name="Google Shape;185;p27"/>
          <p:cNvSpPr txBox="1">
            <a:spLocks noGrp="1"/>
          </p:cNvSpPr>
          <p:nvPr>
            <p:ph type="body" idx="1"/>
          </p:nvPr>
        </p:nvSpPr>
        <p:spPr>
          <a:xfrm>
            <a:off x="595993" y="1581347"/>
            <a:ext cx="8025493" cy="5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dirty="0"/>
              <a:t>Collected 5 key research papers (2017–2024) on recommendation systems.</a:t>
            </a:r>
          </a:p>
          <a:p>
            <a:r>
              <a:rPr lang="en-US" sz="2000" dirty="0"/>
              <a:t>Categorized them into themes:</a:t>
            </a:r>
          </a:p>
          <a:p>
            <a:pPr lvl="1"/>
            <a:r>
              <a:rPr lang="en-US" sz="2000" b="1" dirty="0"/>
              <a:t>Surveys of fundamental and deep learning-based approaches</a:t>
            </a:r>
          </a:p>
          <a:p>
            <a:pPr lvl="1"/>
            <a:r>
              <a:rPr lang="en-US" sz="2000" b="1" dirty="0"/>
              <a:t>Collaborative filtering techniques and their evolution</a:t>
            </a:r>
          </a:p>
          <a:p>
            <a:pPr lvl="1"/>
            <a:r>
              <a:rPr lang="en-US" sz="2000" b="1" dirty="0"/>
              <a:t>Hybrid recommender strategies and integration methods</a:t>
            </a:r>
          </a:p>
          <a:p>
            <a:pPr lvl="1"/>
            <a:r>
              <a:rPr lang="en-US" sz="2000" b="1" dirty="0"/>
              <a:t>Solutions focused on the cold start </a:t>
            </a:r>
            <a:r>
              <a:rPr lang="en-US" sz="2000" b="1" dirty="0" err="1"/>
              <a:t>problemMotion</a:t>
            </a:r>
            <a:r>
              <a:rPr lang="en-US" sz="2000" b="1" dirty="0"/>
              <a:t> and gait-based identification</a:t>
            </a:r>
            <a:endParaRPr lang="en-US" sz="2000" dirty="0"/>
          </a:p>
          <a:p>
            <a:r>
              <a:rPr lang="en-US" sz="2000" dirty="0"/>
              <a:t>Analyzed each for objectives, methods, results, and </a:t>
            </a:r>
            <a:r>
              <a:rPr lang="en-US" sz="2000" dirty="0" err="1"/>
              <a:t>limitatAnalyzed</a:t>
            </a:r>
            <a:r>
              <a:rPr lang="en-US" sz="2000" dirty="0"/>
              <a:t> each paper for objectives, methodological details, experiment setup, results, and identified limitations.</a:t>
            </a:r>
          </a:p>
          <a:p>
            <a:r>
              <a:rPr lang="en-US" sz="2000" dirty="0"/>
              <a:t>Synthesized findings to highlight gaps in large-scale scalability, cold start effectiveness, privacy preservation, bias mitigation, and generalizability across domains.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109728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Times New Roman"/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Tools/Simulator Used in Reviewed Papers</a:t>
            </a:r>
            <a:endParaRPr dirty="0"/>
          </a:p>
        </p:txBody>
      </p:sp>
      <p:sp>
        <p:nvSpPr>
          <p:cNvPr id="191" name="Google Shape;191;p28"/>
          <p:cNvSpPr txBox="1">
            <a:spLocks noGrp="1"/>
          </p:cNvSpPr>
          <p:nvPr>
            <p:ph type="body" idx="1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r>
              <a:rPr lang="en-US" sz="2000" b="1" dirty="0"/>
              <a:t>Public Benchmark Datasets: </a:t>
            </a:r>
            <a:r>
              <a:rPr lang="en-US" sz="2000" dirty="0" err="1"/>
              <a:t>MovieLens</a:t>
            </a:r>
            <a:r>
              <a:rPr lang="en-US" sz="2000" dirty="0"/>
              <a:t>, Amazon Product Reviews, and Netflix Prize datasets for testing and comparing recommendation models.</a:t>
            </a:r>
          </a:p>
          <a:p>
            <a:r>
              <a:rPr lang="en-US" sz="2000" b="1" dirty="0"/>
              <a:t>Machine Learning Libraries: </a:t>
            </a:r>
            <a:r>
              <a:rPr lang="en-US" sz="2000" dirty="0"/>
              <a:t>Scikit-learn for classical ML algorithms, and data handling with Pandas and NumPy.</a:t>
            </a:r>
          </a:p>
          <a:p>
            <a:r>
              <a:rPr lang="en-US" sz="2000" b="1" dirty="0"/>
              <a:t>Deep Learning Frameworks: </a:t>
            </a:r>
            <a:r>
              <a:rPr lang="en-US" sz="2000" dirty="0"/>
              <a:t> TensorFlow and </a:t>
            </a:r>
            <a:r>
              <a:rPr lang="en-US" sz="2000" dirty="0" err="1"/>
              <a:t>PyTorch</a:t>
            </a:r>
            <a:r>
              <a:rPr lang="en-US" sz="2000" dirty="0"/>
              <a:t> for implementing neural network-based recommender systems, including autoencoders and neural collaborative filtering models.</a:t>
            </a:r>
          </a:p>
          <a:p>
            <a:r>
              <a:rPr lang="en-US" sz="2000" b="1" dirty="0"/>
              <a:t>Matrix Factorization Libraries: </a:t>
            </a:r>
            <a:r>
              <a:rPr lang="en-US" sz="2000" dirty="0"/>
              <a:t>Surprise and </a:t>
            </a:r>
            <a:r>
              <a:rPr lang="en-US" sz="2000" dirty="0" err="1"/>
              <a:t>LightFM</a:t>
            </a:r>
            <a:r>
              <a:rPr lang="en-US" sz="2000" dirty="0"/>
              <a:t> for matrix factorization, hybrid methods, and user/item embedding generation.</a:t>
            </a:r>
          </a:p>
          <a:p>
            <a:r>
              <a:rPr lang="en-US" sz="2000" b="1" dirty="0"/>
              <a:t>Evaluation and Visualization Tools: </a:t>
            </a:r>
            <a:r>
              <a:rPr lang="en-US" sz="2000" dirty="0"/>
              <a:t>Tools for computing metrics (</a:t>
            </a:r>
            <a:r>
              <a:rPr lang="en-US" sz="2000" dirty="0" err="1"/>
              <a:t>Precision@K</a:t>
            </a:r>
            <a:r>
              <a:rPr lang="en-US" sz="2000" dirty="0"/>
              <a:t>, </a:t>
            </a:r>
            <a:r>
              <a:rPr lang="en-US" sz="2000" dirty="0" err="1"/>
              <a:t>Recall@K</a:t>
            </a:r>
            <a:r>
              <a:rPr lang="en-US" sz="2000" dirty="0"/>
              <a:t>, RMSE) and visualizing recommendation quality and coverage using Python-based packages.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Result (from Review)</a:t>
            </a:r>
            <a:endParaRPr dirty="0"/>
          </a:p>
        </p:txBody>
      </p:sp>
      <p:sp>
        <p:nvSpPr>
          <p:cNvPr id="197" name="Google Shape;197;p29"/>
          <p:cNvSpPr txBox="1">
            <a:spLocks noGrp="1"/>
          </p:cNvSpPr>
          <p:nvPr>
            <p:ph type="body" idx="1"/>
          </p:nvPr>
        </p:nvSpPr>
        <p:spPr>
          <a:xfrm>
            <a:off x="424543" y="1502232"/>
            <a:ext cx="8341505" cy="523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900" dirty="0"/>
              <a:t>Collaborative filtering methods deliver strong recommendation accuracy on benchmark datasets such as </a:t>
            </a:r>
            <a:r>
              <a:rPr lang="en-US" sz="1900" dirty="0" err="1"/>
              <a:t>MovieLens</a:t>
            </a:r>
            <a:r>
              <a:rPr lang="en-US" sz="1900" dirty="0"/>
              <a:t> and Amazon reviews, but struggle with cold start and data sparsity—performance can drop significantly for new users or items and in sparse rating matrices.</a:t>
            </a:r>
          </a:p>
          <a:p>
            <a:r>
              <a:rPr lang="en-US" sz="1900" dirty="0"/>
              <a:t>Deep learning-based recommenders (including neural collaborative filtering and autoencoders) have improved both the quality and diversity of suggestions, especially when rich side information (user profiles, text, metadata) is available; however, they require substantial computational resources and large datasets for effective training.</a:t>
            </a:r>
          </a:p>
          <a:p>
            <a:r>
              <a:rPr lang="en-US" sz="1900" dirty="0"/>
              <a:t>Hybrid recommender systems that mix collaborative, content-based, and sometimes knowledge-based approaches handle cold start better and consistently outperform single-method models in diverse application domains.</a:t>
            </a:r>
          </a:p>
          <a:p>
            <a:r>
              <a:rPr lang="en-US" sz="1900" b="1" dirty="0"/>
              <a:t>Overall:</a:t>
            </a:r>
            <a:r>
              <a:rPr lang="en-US" sz="1900" dirty="0"/>
              <a:t> Recent advancements make recommendation systems more accurate and versatile, but real-world deployment still faces issues regarding scalability, cold start, privacy, fairness, and maintaining high accuracy across dynamic, large-scale environments.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09728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92"/>
              <a:buFont typeface="Times New Roman"/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Conclusion and future work</a:t>
            </a:r>
            <a:endParaRPr dirty="0"/>
          </a:p>
        </p:txBody>
      </p:sp>
      <p:sp>
        <p:nvSpPr>
          <p:cNvPr id="203" name="Google Shape;203;p30"/>
          <p:cNvSpPr txBox="1">
            <a:spLocks noGrp="1"/>
          </p:cNvSpPr>
          <p:nvPr>
            <p:ph type="body" idx="1"/>
          </p:nvPr>
        </p:nvSpPr>
        <p:spPr>
          <a:xfrm>
            <a:off x="0" y="1510396"/>
            <a:ext cx="91440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dirty="0"/>
              <a:t>Recommendation systems greatly enhance user experiences by providing personalized, relevant content and reducing information overload in diverse domains such as e-commerce, streaming, and social platforms.</a:t>
            </a:r>
          </a:p>
          <a:p>
            <a:r>
              <a:rPr lang="en-US" sz="2000" dirty="0"/>
              <a:t>Recent research demonstrates promising gains—hybrid and deep learning recommendations achieve higher accuracy, better diversity, and greater adaptability than traditional single-method systems. However, most studies rely on benchmark datasets or constrained environments, limiting real-world generalizability.</a:t>
            </a:r>
          </a:p>
          <a:p>
            <a:pPr marL="160020" indent="0">
              <a:buNone/>
            </a:pPr>
            <a:r>
              <a:rPr lang="en-US" sz="2000" b="1" dirty="0"/>
              <a:t>Future Direction:</a:t>
            </a:r>
            <a:endParaRPr lang="en-US" sz="2000" dirty="0"/>
          </a:p>
          <a:p>
            <a:r>
              <a:rPr lang="en-US" sz="2000" dirty="0"/>
              <a:t>Integrate multi-source data—such as user behavior, content features, and context—to create more robust, accurate, and context-aware recommenders.</a:t>
            </a:r>
          </a:p>
          <a:p>
            <a:r>
              <a:rPr lang="en-US" sz="2000" dirty="0"/>
              <a:t>Advance techniques to address cold start, scalability, and fairness, such as using meta-learning, transfer learning, and explainable AI.</a:t>
            </a:r>
          </a:p>
          <a:p>
            <a:r>
              <a:rPr lang="en-US" sz="2000" dirty="0"/>
              <a:t>Focus on real-time, dynamically adaptive systems that update recommendations as user interests change.</a:t>
            </a:r>
          </a:p>
          <a:p>
            <a:pPr marL="160020" indent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09728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92"/>
              <a:buFont typeface="Times New Roman"/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dirty="0"/>
          </a:p>
        </p:txBody>
      </p:sp>
      <p:sp>
        <p:nvSpPr>
          <p:cNvPr id="209" name="Google Shape;209;p31"/>
          <p:cNvSpPr txBox="1">
            <a:spLocks noGrp="1"/>
          </p:cNvSpPr>
          <p:nvPr>
            <p:ph type="body" idx="1"/>
          </p:nvPr>
        </p:nvSpPr>
        <p:spPr>
          <a:xfrm>
            <a:off x="495875" y="1502100"/>
            <a:ext cx="8503200" cy="56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dirty="0"/>
              <a:t>Ricci, F., Rokach, L., &amp; Shapira, B. (2024). A Comprehensive Review of Recommender Systems: Transitioning from Theory to Practice. </a:t>
            </a:r>
            <a:r>
              <a:rPr lang="en-US" sz="2000" i="1" dirty="0"/>
              <a:t>Journal of Artificial Intelligence Research.</a:t>
            </a:r>
          </a:p>
          <a:p>
            <a:r>
              <a:rPr lang="en-US" sz="2000" dirty="0"/>
              <a:t>Zhang, S., Yao, L., Sun, A., &amp; Tay, Y. (2017). Deep Learning based Recommender System: A Survey and New Perspectives. </a:t>
            </a:r>
            <a:r>
              <a:rPr lang="en-US" sz="2000" i="1" dirty="0"/>
              <a:t>ACM Computing Surveys.</a:t>
            </a:r>
          </a:p>
          <a:p>
            <a:r>
              <a:rPr lang="en-US" sz="2000" dirty="0"/>
              <a:t>Koren, Y., &amp; Bell, R. (2024). Collaborative Filtering Recommender Systems: Survey. </a:t>
            </a:r>
            <a:r>
              <a:rPr lang="en-US" sz="2000" i="1" dirty="0"/>
              <a:t>IEEE Transactions on Knowledge and Data Engineering</a:t>
            </a:r>
            <a:r>
              <a:rPr lang="en-US" sz="2000" dirty="0"/>
              <a:t>.</a:t>
            </a:r>
          </a:p>
          <a:p>
            <a:r>
              <a:rPr lang="en-US" sz="2000" dirty="0"/>
              <a:t>Burke, R. (2017). A Review of Hybrid Recommender Systems. User Modeling and User-Adapted Interaction.</a:t>
            </a:r>
          </a:p>
          <a:p>
            <a:r>
              <a:rPr lang="en-US" sz="2000" dirty="0"/>
              <a:t>Bobadilla, J., Ortega, F., Hernando, A., &amp; Gutierrez, A. (2020). Cold Start Problem in Collaborative Filtering Systems: State of the Art. Information Sciences.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ian">
  <a:themeElements>
    <a:clrScheme name="Median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1879</Words>
  <Application>Microsoft Office PowerPoint</Application>
  <PresentationFormat>On-screen Show (4:3)</PresentationFormat>
  <Paragraphs>149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Noto Sans Symbols</vt:lpstr>
      <vt:lpstr>Times New Roman</vt:lpstr>
      <vt:lpstr>Twentieth Century</vt:lpstr>
      <vt:lpstr>Median</vt:lpstr>
      <vt:lpstr>PowerPoint Presentation</vt:lpstr>
      <vt:lpstr>PowerPoint Presentation</vt:lpstr>
      <vt:lpstr>Objective</vt:lpstr>
      <vt:lpstr>Literature Review - Paper 1 </vt:lpstr>
      <vt:lpstr>Literature Review - Paper 1 </vt:lpstr>
      <vt:lpstr>Literature Review - Paper 2 </vt:lpstr>
      <vt:lpstr>Literature Review - Paper 2</vt:lpstr>
      <vt:lpstr>Literature Review - Paper 3 </vt:lpstr>
      <vt:lpstr>Literature Review - Paper 3</vt:lpstr>
      <vt:lpstr>Literature Review - Paper 4 </vt:lpstr>
      <vt:lpstr>Literature Review - Paper 4</vt:lpstr>
      <vt:lpstr>Literature Review - Paper 5 </vt:lpstr>
      <vt:lpstr>Literature Review - Paper 5</vt:lpstr>
      <vt:lpstr>Problem Identification &amp; Definition</vt:lpstr>
      <vt:lpstr>Review Methodology</vt:lpstr>
      <vt:lpstr>Tools/Simulator Used in Reviewed Papers</vt:lpstr>
      <vt:lpstr>Result (from Review)</vt:lpstr>
      <vt:lpstr>Conclusion and future work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Harsh Choudhary</cp:lastModifiedBy>
  <cp:revision>36</cp:revision>
  <dcterms:modified xsi:type="dcterms:W3CDTF">2025-10-08T09:14:53Z</dcterms:modified>
</cp:coreProperties>
</file>